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4a533f37974b1b" /><Relationship Type="http://schemas.openxmlformats.org/officeDocument/2006/relationships/extended-properties" Target="/docProps/app.xml" Id="R521155425da54f06" /><Relationship Type="http://schemas.openxmlformats.org/officeDocument/2006/relationships/officeDocument" Target="/ppt/presentation.xml" Id="Rab2e83feccd747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31897771ca47a7"/>
  </p:sldMasterIdLst>
  <p:notesMasterIdLst>
    <p:notesMasterId xmlns:r="http://schemas.openxmlformats.org/officeDocument/2006/relationships" r:id="R5a6a2e27107d4036"/>
  </p:notesMasterIdLst>
  <p:sldIdLst>
    <p:sldId xmlns:r="http://schemas.openxmlformats.org/officeDocument/2006/relationships" id="256" r:id="Rae733a2663a24d15"/>
    <p:sldId xmlns:r="http://schemas.openxmlformats.org/officeDocument/2006/relationships" id="257" r:id="Rc6b3c71499854e0c"/>
    <p:sldId xmlns:r="http://schemas.openxmlformats.org/officeDocument/2006/relationships" id="258" r:id="Rfc5dd8e431ff445f"/>
    <p:sldId xmlns:r="http://schemas.openxmlformats.org/officeDocument/2006/relationships" id="259" r:id="R50e287df8caf410b"/>
    <p:sldId xmlns:r="http://schemas.openxmlformats.org/officeDocument/2006/relationships" id="260" r:id="R7dea745cdfb04902"/>
    <p:sldId xmlns:r="http://schemas.openxmlformats.org/officeDocument/2006/relationships" id="261" r:id="Rb549c3f97eb941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7be266f7374492" /><Relationship Type="http://schemas.openxmlformats.org/officeDocument/2006/relationships/slideMaster" Target="/ppt/slideMasters/slideMaster1.xml" Id="R4331897771ca47a7" /><Relationship Type="http://schemas.openxmlformats.org/officeDocument/2006/relationships/notesMaster" Target="/ppt/notesMasters/notesMaster1.xml" Id="R5a6a2e27107d4036" /><Relationship Type="http://schemas.openxmlformats.org/officeDocument/2006/relationships/presProps" Target="/ppt/presProps.xml" Id="R96c82e3f42064400" /><Relationship Type="http://schemas.openxmlformats.org/officeDocument/2006/relationships/tableStyles" Target="/ppt/tableStyles.xml" Id="R4647c18928b44b98" /><Relationship Type="http://schemas.openxmlformats.org/officeDocument/2006/relationships/slide" Target="/ppt/slides/slide1.xml" Id="Rae733a2663a24d15" /><Relationship Type="http://schemas.openxmlformats.org/officeDocument/2006/relationships/slide" Target="/ppt/slides/slide2.xml" Id="Rc6b3c71499854e0c" /><Relationship Type="http://schemas.openxmlformats.org/officeDocument/2006/relationships/slide" Target="/ppt/slides/slide3.xml" Id="Rfc5dd8e431ff445f" /><Relationship Type="http://schemas.openxmlformats.org/officeDocument/2006/relationships/slide" Target="/ppt/slides/slide4.xml" Id="R50e287df8caf410b" /><Relationship Type="http://schemas.openxmlformats.org/officeDocument/2006/relationships/slide" Target="/ppt/slides/slide5.xml" Id="R7dea745cdfb04902" /><Relationship Type="http://schemas.openxmlformats.org/officeDocument/2006/relationships/slide" Target="/ppt/slides/slide6.xml" Id="Rb549c3f97eb941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0e0f96c75a4f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6d7f4aa150473a" /><Relationship Type="http://schemas.openxmlformats.org/officeDocument/2006/relationships/notesMaster" Target="/ppt/notesMasters/notesMaster1.xml" Id="R13061f79a4fa44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abf8be55994d21" /><Relationship Type="http://schemas.openxmlformats.org/officeDocument/2006/relationships/notesMaster" Target="/ppt/notesMasters/notesMaster1.xml" Id="R3a3731c93c3143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84d5545e484a2a" /><Relationship Type="http://schemas.openxmlformats.org/officeDocument/2006/relationships/notesMaster" Target="/ppt/notesMasters/notesMaster1.xml" Id="R8d4c1539cb5748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9c39739e0f43e6" /><Relationship Type="http://schemas.openxmlformats.org/officeDocument/2006/relationships/notesMaster" Target="/ppt/notesMasters/notesMaster1.xml" Id="R9682f5dad91b4d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9d4780ffec4c2b" /><Relationship Type="http://schemas.openxmlformats.org/officeDocument/2006/relationships/notesMaster" Target="/ppt/notesMasters/notesMaster1.xml" Id="R22dba49de4c24b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795c4ea4b240e5" /><Relationship Type="http://schemas.openxmlformats.org/officeDocument/2006/relationships/notesMaster" Target="/ppt/notesMasters/notesMaster1.xml" Id="Rd915bff4124e47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bb285c5ab42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3001b3217c45e5" /><Relationship Type="http://schemas.openxmlformats.org/officeDocument/2006/relationships/slideLayout" Target="/ppt/slideLayouts/slideLayout1.xml" Id="R5ceea94348a040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eea94348a040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66e5df762412b" /><Relationship Type="http://schemas.openxmlformats.org/officeDocument/2006/relationships/notesSlide" Target="/ppt/notesSlides/notesSlide1.xml" Id="R534b646046c243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c49db7c5948e5" /><Relationship Type="http://schemas.openxmlformats.org/officeDocument/2006/relationships/notesSlide" Target="/ppt/notesSlides/notesSlide2.xml" Id="R41192c56a70946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d57ca1a3f4f41" /><Relationship Type="http://schemas.openxmlformats.org/officeDocument/2006/relationships/notesSlide" Target="/ppt/notesSlides/notesSlide3.xml" Id="Re10d1cc9a74640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8fe87926a47ce" /><Relationship Type="http://schemas.openxmlformats.org/officeDocument/2006/relationships/notesSlide" Target="/ppt/notesSlides/notesSlide4.xml" Id="R6f13cdf740894d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e6feedac24cdf" /><Relationship Type="http://schemas.openxmlformats.org/officeDocument/2006/relationships/notesSlide" Target="/ppt/notesSlides/notesSlide5.xml" Id="R8c05b1be098248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ea736cad14af5" /><Relationship Type="http://schemas.openxmlformats.org/officeDocument/2006/relationships/notesSlide" Target="/ppt/notesSlides/notesSlide6.xml" Id="R12ce429dd2a042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57E29-0F55-4EC6-85E9-AA31FAFE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HEALTHFORECAST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6BD09-D35D-4E00-B338-A6CF7F53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768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Hospital readmission prediction</a:t>
            </a:r>
          </a:p>
          <a:p xmlns:a="http://schemas.openxmlformats.org/drawingml/2006/main">
            <a:pPr algn="l">
              <a:defRPr sz="40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and patient risk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64510-D738-4EAA-9024-DFB7F6A2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 Docker-only local healthcare analytics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20189-9621-4C21-984E-AAC36A11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38200"/>
            <a:ext cx="4476750" cy="476250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6AD32-E030-4391-82B8-D9DC0A83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621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79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30-day</a:t>
            </a:r>
          </a:p>
          <a:p xmlns:a="http://schemas.openxmlformats.org/drawingml/2006/main">
            <a:pPr algn="l">
              <a:defRPr sz="36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readmission 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ABC05-43A0-49CE-AC67-C4B0F73C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Role-based workflows</a:t>
            </a:r>
          </a:p>
          <a:p xmlns:a="http://schemas.openxmlformats.org/drawingml/2006/main">
            <a:pPr algn="l">
              <a:defRPr sz="1875" b="0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Patient insights</a:t>
            </a:r>
          </a:p>
          <a:p xmlns:a="http://schemas.openxmlformats.org/drawingml/2006/main">
            <a:pPr algn="l">
              <a:defRPr sz="1875" b="0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Treatment patterns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18BFC-9DFA-469B-8225-906BC61F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HealthForecast AI  |  College Demonstration  |  1</a:t>
            </a:r>
          </a:p>
        </p:txBody>
      </p:sp>
    </p:spTree>
    <p:extLst>
      <p:ext uri="{BB962C8B-B14F-4D97-AF65-F5344CB8AC3E}">
        <p14:creationId xmlns:p14="http://schemas.microsoft.com/office/powerpoint/2010/main" val="14624397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B278DF-11D8-4CFD-9724-152CB4CA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2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The platform brings required hospital workflows into one local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156CA-0285-487F-914F-2EED415F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HealthForecast AI  |  College Demonstration  |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25FFE-6A70-48EB-8DC7-4468B6CA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318135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EEAE9-B11A-4A95-933E-8A760F33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430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F241E-75AC-4270-BAF7-E0A92EF6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85975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User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3759A-2AE2-4D36-A35C-15312055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8602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Login and role-based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15F84-3D0B-48C7-A86D-4CB24AFC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71625"/>
            <a:ext cx="318135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2137D-72F8-466F-AF06-3276D4F0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430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4EDC1-4D7C-442D-A9F6-81F25CE7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85975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Patient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7AB49-D208-4611-954A-A3F18B86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8602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Records, history and admissions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71574-57E4-4658-8EC4-A747027D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71625"/>
            <a:ext cx="318135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796E5-F65D-4544-AF4A-2884D300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430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AE814-312A-4D12-9776-BA0C4775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85975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Risk prediction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308ED-1913-4DCD-B187-1881B4F7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8602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30-day readmission probability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6215B-F8E9-4E02-B04F-2AA78ADE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18135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484C7-435C-47AF-A20F-86651609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385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236B4A-10BE-477E-965C-52C41055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81475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Treatment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E81B9B-BC13-4DE1-9FF7-D9C65979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8152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Medication and outcome patterns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91B4C-05C1-48F3-BF7E-017C5A6F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67125"/>
            <a:ext cx="318135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1D27DE-2D49-4418-AD72-664A5636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385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67CED1-4E59-4DCB-9F9C-BA18008C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81475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Clinical 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1FA3AF-405B-4407-99D8-2336D8F5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8152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Care and follow-up guidance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DB498A-B662-40CC-925D-765111E0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67125"/>
            <a:ext cx="318135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766F0E-75BB-4D0B-A380-AD545D95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385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EF0BC3-5FA8-47AD-BA2D-0667A116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81475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Analytics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30A196-B3AD-48EB-9F04-C6E037AB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8152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Outcomes and performance reports</a:t>
            </a:r>
          </a:p>
        </p:txBody>
      </p:sp>
    </p:spTree>
    <p:extLst>
      <p:ext uri="{BB962C8B-B14F-4D97-AF65-F5344CB8AC3E}">
        <p14:creationId xmlns:p14="http://schemas.microsoft.com/office/powerpoint/2010/main" val="5903056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9DBC9-1789-4E5B-B604-831D16A9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57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A simple Docker-only architecture keeps the demo reproducible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AA4FB-12DC-4D47-A8F6-D7E093F7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HealthForecast AI  |  College Demonstration  |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28475-76CF-4B96-A069-4D84A36D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762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2E2D8-0E04-4D74-AA86-918D430D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Next.js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318C4-C145-4CBC-A8CC-FDB3891C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Login, dashboard, charts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63EB9-90F5-41AF-BF08-07E1A18F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2762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B2CEE-BAD3-42B5-9778-91559F4F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62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FastAPI 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E96B1-053F-4B41-87F8-38826CE2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575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RBAC, analytics, predictions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8A589-E092-49AF-BDB9-49C61542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762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60285-9D73-47E5-9FE2-B57B9621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62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03B17-5D9B-4AA9-9D34-A6F2AECF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575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Patients and encounter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56E1C-B4A0-494B-A84B-DF161921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48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E7C07-F84A-4724-AC5C-500CFA69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48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04DF3-4F5B-47FF-86A6-A288C5AC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2762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5A794-763D-4C25-A1EC-07E79486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006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39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Scikit-learn / XGBoost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2CD0F-5058-4024-A26F-CBBE542E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Docker Compose starts all services locally</a:t>
            </a:r>
          </a:p>
        </p:txBody>
      </p:sp>
    </p:spTree>
    <p:extLst>
      <p:ext uri="{BB962C8B-B14F-4D97-AF65-F5344CB8AC3E}">
        <p14:creationId xmlns:p14="http://schemas.microsoft.com/office/powerpoint/2010/main" val="12290737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FD2B82-A2B3-48D7-A29C-505E3A2E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71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The supplied dataset supports a realistic 30-day readmission use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E3ABE-1393-41BB-A42F-984A8342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HealthForecast AI  |  College Demonstration  |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432A8-2026-4E99-96BC-1A2FC408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3143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21317-58FB-402E-B8BF-389F28EB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8097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101,766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442E9-AC02-4782-AD94-BBACFE3D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5241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hospital encounters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BE34A-DA3F-4B98-823D-3CB485D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76375"/>
            <a:ext cx="3143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05D4B-8F12-4073-A856-F3CFB217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097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71,518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710CB-7A10-4F68-A31F-D0BCB1D7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241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unique patients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D561A-DB73-4866-A7EE-4F50CCEF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76375"/>
            <a:ext cx="3143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8E994-457A-49F2-9737-B91486B7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8097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11,357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82430-72B6-47CB-8347-84259703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241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under-30-day readmissions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DA32C-475E-4AAC-ABFA-D58478DA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067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Selected model: Random Forest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5CB6B-E621-4BF2-918E-A2D75F1B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Test ROC-AUC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C63DC-82D8-41DE-999C-30DDDBEB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0.6525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9F655-49BE-47CD-B75D-EAF1AB5D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The model compares Logistic Regression, Random Forest, and XGBoost where available. It predicts readmission in under 30 days versus all other outcomes.</a:t>
            </a:r>
          </a:p>
        </p:txBody>
      </p:sp>
    </p:spTree>
    <p:extLst>
      <p:ext uri="{BB962C8B-B14F-4D97-AF65-F5344CB8AC3E}">
        <p14:creationId xmlns:p14="http://schemas.microsoft.com/office/powerpoint/2010/main" val="12123282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2333A-FD30-4AFF-A879-46EDE49A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Four roles receive only the data and actions they need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BBCFD-91E8-47ED-B6BE-56D6EEF7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HealthForecast AI  |  College Demonstration  |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0D44C-5E07-4F8B-8EC3-B15164C4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17AC1-BD39-4865-8447-2400F95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383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Doctor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58D51-C056-48CB-B70F-852C796A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3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Assigned patient records</a:t>
            </a:r>
          </a:p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Risk scores and care plans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C48DB-9BA2-4C79-9D66-8A6DBE58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71625"/>
            <a:ext cx="495300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510E8-6339-49DF-9E6F-FE7760B2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383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Hospital Administrator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29A4D-0C45-42E7-843F-18060DEC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33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Hospital-wide analytics</a:t>
            </a:r>
          </a:p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Reports without clinical edits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EE566-BE81-4703-9D71-4E6ABABA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95300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DADD7-8194-4C78-AED1-FD2F2843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385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Healthcare Researcher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024E7-BADD-44CD-9F11-A85BD047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338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Aggregate insights</a:t>
            </a:r>
          </a:p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Anonymized CSV export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0E142-B9D0-4D16-9F24-038194D6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71875"/>
            <a:ext cx="495300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BC90D7-8E54-4DA3-8CBF-130A8C21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385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System Administrator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990C8-A7D2-4324-B65A-641560E1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338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Users, roles and model metrics</a:t>
            </a:r>
          </a:p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Full platform access</a:t>
            </a:r>
          </a:p>
        </p:txBody>
      </p:sp>
    </p:spTree>
    <p:extLst>
      <p:ext uri="{BB962C8B-B14F-4D97-AF65-F5344CB8AC3E}">
        <p14:creationId xmlns:p14="http://schemas.microsoft.com/office/powerpoint/2010/main" val="11740414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94C9B0-0E68-46DC-8EA4-549F1101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954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The mentor demo follows one end-to-end patient intelligence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28808-38B1-4E63-A674-4F24D98B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HealthForecast AI  |  College Demonstration  |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26118-B7A8-49AF-9E44-4BADBCF7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762125" cy="2000250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DAD0B-D46F-40A9-8AC0-0AC2F6B3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1DCA6-C2EC-4F6A-973B-6629AFFD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1352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Sign 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FEBEC-C560-4BD8-AA54-FED668A9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Choose a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ED323-0F8A-46A3-9CF2-1EAE768D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432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68BED-5876-4776-831F-4F558F97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81250"/>
            <a:ext cx="1762125" cy="2000250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D396E-17A2-4F0F-ADD2-592409EA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47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4AE52-01C3-4334-8285-86E27AAE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24200"/>
            <a:ext cx="1352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511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Review patient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25888-2B56-419C-AF65-8A451B14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195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See encounter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453BC-67BA-4CCB-98E0-03B52C2B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CF441-080A-42E1-AFC5-CB557ECE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81250"/>
            <a:ext cx="1762125" cy="2000250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17CDA-19C3-47FF-9161-4CED0768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47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9DD38-1562-4E91-8AB9-49491CC4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24200"/>
            <a:ext cx="1352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99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Generate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9B0F0-8BA1-416D-8070-03F88788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195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View probability and signals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2F837-C41E-43FC-AE05-BECBFB1D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432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75AD7-CF66-4258-B9C2-99A55E62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762125" cy="2000250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C4217C-EA08-4233-83DE-9832B0A7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47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DB0B70-5ED6-4B6B-A768-A7418B3C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24200"/>
            <a:ext cx="1352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37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Analyse outcomes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A1B4F0-55CE-4F59-A144-0000D9AC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195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Open treatment and dashboard views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8323B1-7D6A-4F7A-AC32-B63C8D8A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432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1A1424-626C-49D4-9721-85FABFCA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81250"/>
            <a:ext cx="1762125" cy="2000250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ACB5FC-3EAF-4387-A86D-5FAF27B1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47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D9488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69EC46-1690-4393-AD2B-8C69F6BA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24200"/>
            <a:ext cx="1352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40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213D"/>
                </a:solidFill>
                <a:latin typeface="Helvetica Neue"/>
                <a:ea typeface="Helvetica Neue"/>
                <a:cs typeface="Helvetica Neue"/>
              </a:rPr>
              <a:t>Export or manage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211C7D-E597-443D-90F3-FB4CA4C7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195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Role-specific final 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7CE07E-61D8-44C9-8372-5EE381DB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Educational demonstration only: treatment views report observed patterns, not causal clinical findings.</a:t>
            </a:r>
          </a:p>
        </p:txBody>
      </p:sp>
    </p:spTree>
    <p:extLst>
      <p:ext uri="{BB962C8B-B14F-4D97-AF65-F5344CB8AC3E}">
        <p14:creationId xmlns:p14="http://schemas.microsoft.com/office/powerpoint/2010/main" val="2371781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2026-07-31T09:44:03.2790000Z</dcterms:created>
  <dcterms:modified xsi:type="dcterms:W3CDTF">2026-07-31T09:44:03.2790000Z</dcterms:modified>
</coreProperties>
</file>